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1. 턴 안에서 쓰는 정보 (in-turn)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55555"/>
                </a:solidFill>
              </a:defRPr>
            </a:pPr>
            <a:r>
              <a:t>질문 1건에 답하는 동안만 쓰이는 흐름 — 이 자체는 아무것도 새로 저장하지 않는다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95928" y="1188720"/>
            <a:ext cx="4206240" cy="502920"/>
          </a:xfrm>
          <a:prstGeom prst="roundRect">
            <a:avLst/>
          </a:prstGeom>
          <a:solidFill>
            <a:srgbClr val="DDE9F7"/>
          </a:solidFill>
          <a:ln w="1905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500" b="1">
                <a:solidFill>
                  <a:srgbClr val="2E5EAA"/>
                </a:solidFill>
              </a:defRPr>
            </a:pPr>
            <a:r>
              <a:t>사용자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691640"/>
            <a:ext cx="0" cy="22860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38728" y="1920240"/>
            <a:ext cx="5120640" cy="960120"/>
          </a:xfrm>
          <a:prstGeom prst="roundRect">
            <a:avLst>
              <a:gd name="adj" fmla="val 16667"/>
            </a:avLst>
          </a:prstGeom>
          <a:solidFill>
            <a:srgbClr val="fbe7ce"/>
          </a:solidFill>
          <a:ln w="1905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anchor="ctr"/>
          <a:lstStyle/>
          <a:p>
            <a:pPr algn="l">
              <a:defRPr sz="1250" b="1">
                <a:solidFill>
                  <a:srgbClr val="b45f06"/>
                </a:solidFill>
              </a:defRPr>
            </a:pPr>
            <a:r>
              <a:rPr lang="ko-KR" altLang="en-US"/>
              <a:t>[항상 자동] _prefetch_memory()</a:t>
            </a:r>
            <a:endParaRPr lang="ko-KR" altLang="en-US"/>
          </a:p>
          <a:p>
            <a:pPr algn="l">
              <a:defRPr sz="1050">
                <a:solidFill>
                  <a:srgbClr val="1f2a44"/>
                </a:solidFill>
              </a:defRPr>
            </a:pPr>
            <a:r>
              <a:rPr lang="ko-KR" altLang="en-US"/>
              <a:t>· memory.search(tier="all") — STM+MTM+LTM 조회수 무관 즉시 조회</a:t>
            </a:r>
            <a:endParaRPr lang="ko-KR" altLang="en-US"/>
          </a:p>
          <a:p>
            <a:pPr algn="l">
              <a:defRPr sz="1050">
                <a:solidFill>
                  <a:srgbClr val="1f2a44"/>
                </a:solidFill>
              </a:defRPr>
            </a:pPr>
            <a:r>
              <a:rPr lang="ko-KR" altLang="en-US"/>
              <a:t>· 시스템 프롬프트 뒤 user 메시지로 강제 주입</a:t>
            </a:r>
            <a:endParaRPr lang="ko-KR" altLang="en-US"/>
          </a:p>
          <a:p>
            <a:pPr algn="l">
              <a:defRPr sz="1050">
                <a:solidFill>
                  <a:srgbClr val="1f2a44"/>
                </a:solidFill>
              </a:defRPr>
            </a:pPr>
            <a:r>
              <a:rPr lang="ko-KR" altLang="en-US"/>
              <a:t>· 도구 아님 — LLM이 부를지 판단하는 대상 아님</a:t>
            </a:r>
            <a:endParaRPr lang="ko-KR" altLang="en-US"/>
          </a:p>
        </p:txBody>
      </p:sp>
      <p:cxnSp>
        <p:nvCxnSpPr>
          <p:cNvPr id="7" name="Connector 6"/>
          <p:cNvCxnSpPr/>
          <p:nvPr/>
        </p:nvCxnSpPr>
        <p:spPr>
          <a:xfrm>
            <a:off x="6099048" y="2880360"/>
            <a:ext cx="0" cy="22860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72968" y="3108960"/>
            <a:ext cx="5852159" cy="502920"/>
          </a:xfrm>
          <a:prstGeom prst="roundRect">
            <a:avLst/>
          </a:prstGeom>
          <a:solidFill>
            <a:srgbClr val="DDE9F7"/>
          </a:solidFill>
          <a:ln w="1905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400" b="1">
                <a:solidFill>
                  <a:srgbClr val="2E5EAA"/>
                </a:solidFill>
              </a:defRPr>
            </a:pPr>
            <a:r>
              <a:t>LLM 추론 루프 (max_tool_calls 회까지)</a:t>
            </a:r>
          </a:p>
        </p:txBody>
      </p:sp>
      <p:cxnSp>
        <p:nvCxnSpPr>
          <p:cNvPr id="9" name="Connector 8"/>
          <p:cNvCxnSpPr>
            <a:endCxn id="12" idx="0"/>
          </p:cNvCxnSpPr>
          <p:nvPr/>
        </p:nvCxnSpPr>
        <p:spPr>
          <a:xfrm rot="10800000" flipV="1">
            <a:off x="4590288" y="3611880"/>
            <a:ext cx="685800" cy="320039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endCxn id="13" idx="0"/>
          </p:cNvCxnSpPr>
          <p:nvPr/>
        </p:nvCxnSpPr>
        <p:spPr>
          <a:xfrm>
            <a:off x="6922005" y="3611880"/>
            <a:ext cx="685802" cy="32004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72968" y="3639312"/>
            <a:ext cx="5852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tool_calls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2968" y="3931920"/>
            <a:ext cx="2834640" cy="960120"/>
          </a:xfrm>
          <a:prstGeom prst="roundRect">
            <a:avLst>
              <a:gd name="adj" fmla="val 16667"/>
            </a:avLst>
          </a:prstGeom>
          <a:solidFill>
            <a:srgbClr val="e1f2e1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anchor="ctr"/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rPr lang="ko-KR" altLang="en-US"/>
              <a:t>search_documents</a:t>
            </a:r>
            <a:endParaRPr lang="ko-KR" altLang="en-US"/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rPr lang="ko-KR" altLang="en-US"/>
              <a:t>· doc_rag: Dense+BM25</a:t>
            </a:r>
            <a:endParaRPr lang="ko-KR" altLang="en-US"/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rPr lang="ko-KR" altLang="en-US"/>
              <a:t>· → RRF (리랭커 없음)</a:t>
            </a:r>
            <a:endParaRPr lang="ko-KR" altLang="en-US"/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rPr lang="ko-KR" altLang="en-US"/>
              <a:t>· → 문서 청크 근거카드</a:t>
            </a:r>
            <a:endParaRPr lang="ko-KR" altLang="en-US"/>
          </a:p>
        </p:txBody>
      </p:sp>
      <p:sp>
        <p:nvSpPr>
          <p:cNvPr id="13" name="Rounded Rectangle 12"/>
          <p:cNvSpPr/>
          <p:nvPr/>
        </p:nvSpPr>
        <p:spPr>
          <a:xfrm>
            <a:off x="6190487" y="3931920"/>
            <a:ext cx="2834640" cy="960120"/>
          </a:xfrm>
          <a:prstGeom prst="roundRect">
            <a:avLst>
              <a:gd name="adj" fmla="val 16667"/>
            </a:avLst>
          </a:prstGeom>
          <a:solidFill>
            <a:srgbClr val="e1f2e1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anchor="ctr"/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rPr lang="ko-KR" altLang="en-US"/>
              <a:t>search_graph</a:t>
            </a:r>
            <a:endParaRPr lang="ko-KR" altLang="en-US"/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rPr lang="ko-KR" altLang="en-US"/>
              <a:t>· graph_rag: 닫힌 어휘 개체 해소</a:t>
            </a:r>
            <a:endParaRPr lang="ko-KR" altLang="en-US"/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rPr lang="ko-KR" altLang="en-US"/>
              <a:t>· (정확매칭 → 퍼지 fallback)</a:t>
            </a:r>
            <a:endParaRPr lang="ko-KR" altLang="en-US"/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rPr lang="ko-KR" altLang="en-US"/>
              <a:t>· → N홉 → 근거카드</a:t>
            </a:r>
            <a:endParaRPr lang="ko-KR" altLang="en-US"/>
          </a:p>
        </p:txBody>
      </p:sp>
      <p:cxnSp>
        <p:nvCxnSpPr>
          <p:cNvPr id="14" name="Connector 13"/>
          <p:cNvCxnSpPr>
            <a:stCxn id="12" idx="2"/>
          </p:cNvCxnSpPr>
          <p:nvPr/>
        </p:nvCxnSpPr>
        <p:spPr>
          <a:xfrm>
            <a:off x="4590288" y="4892040"/>
            <a:ext cx="685800" cy="18288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13" idx="2"/>
          </p:cNvCxnSpPr>
          <p:nvPr/>
        </p:nvCxnSpPr>
        <p:spPr>
          <a:xfrm rot="10800000" flipV="1">
            <a:off x="6922007" y="4892040"/>
            <a:ext cx="685800" cy="18288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72968" y="5093207"/>
            <a:ext cx="5852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tool_calls 없음 → 최종 답변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72968" y="5349240"/>
            <a:ext cx="5852159" cy="502920"/>
          </a:xfrm>
          <a:prstGeom prst="roundRect">
            <a:avLst/>
          </a:prstGeom>
          <a:solidFill>
            <a:srgbClr val="DDE9F7"/>
          </a:solidFill>
          <a:ln w="1905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500" b="1">
                <a:solidFill>
                  <a:srgbClr val="2E5EAA"/>
                </a:solidFill>
              </a:defRPr>
            </a:pPr>
            <a:r>
              <a:t>최종 답변 생성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8" y="5852159"/>
            <a:ext cx="0" cy="22860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24328" y="6080760"/>
            <a:ext cx="6949440" cy="594360"/>
          </a:xfrm>
          <a:prstGeom prst="roundRect">
            <a:avLst/>
          </a:prstGeom>
          <a:solidFill>
            <a:srgbClr val="FBE7CE"/>
          </a:solidFill>
          <a:ln w="1905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200" b="1">
                <a:solidFill>
                  <a:srgbClr val="B45F06"/>
                </a:solidFill>
              </a:defRPr>
            </a:pPr>
            <a:r>
              <a:t>_score_attribution()</a:t>
            </a:r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t>· 답변에 쓰인 근거 비중 계산 → 메모리 카드만 memory.credit() → 조회수(views) ↑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A44"/>
                </a:solidFill>
              </a:defRPr>
            </a:pPr>
            <a:r>
              <a:t>2. 메모리 / RAG에 입력되는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5eaa"/>
                </a:solidFill>
              </a:defRPr>
            </a:pPr>
            <a:r>
              <a:rPr lang="ko-KR" altLang="en-US"/>
              <a:t>경로 A: 문서 코퍼스 → STM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263640" y="105156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45F06"/>
                </a:solidFill>
              </a:defRPr>
            </a:pPr>
            <a:r>
              <a:t>경로 B: 문서 코퍼스 → doc_rag / graph_rag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40680" cy="502920"/>
          </a:xfrm>
          <a:prstGeom prst="roundRect">
            <a:avLst>
              <a:gd name="adj" fmla="val 16667"/>
            </a:avLst>
          </a:prstGeom>
          <a:solidFill>
            <a:srgbClr val="dde9f7"/>
          </a:solidFill>
          <a:ln w="1905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anchor="ctr"/>
          <a:lstStyle/>
          <a:p>
            <a:pPr algn="l">
              <a:defRPr sz="1300" b="1">
                <a:solidFill>
                  <a:srgbClr val="2e5eaa"/>
                </a:solidFill>
              </a:defRPr>
            </a:pPr>
            <a:r>
              <a:rPr lang="ko-KR" altLang="en-US"/>
              <a:t>turn 종료 (question, answer)</a:t>
            </a:r>
            <a:endParaRPr lang="ko-KR" altLang="en-US"/>
          </a:p>
        </p:txBody>
      </p:sp>
      <p:cxnSp>
        <p:nvCxnSpPr>
          <p:cNvPr id="7" name="Connector 6"/>
          <p:cNvCxnSpPr/>
          <p:nvPr/>
        </p:nvCxnSpPr>
        <p:spPr>
          <a:xfrm>
            <a:off x="3223260" y="1965960"/>
            <a:ext cx="0" cy="18288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2148840"/>
            <a:ext cx="5440680" cy="868680"/>
          </a:xfrm>
          <a:prstGeom prst="roundRect">
            <a:avLst>
              <a:gd name="adj" fmla="val 16667"/>
            </a:avLst>
          </a:prstGeom>
          <a:solidFill>
            <a:srgbClr val="e1f2e1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anchor="ctr"/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rPr lang="ko-KR" altLang="en-US"/>
              <a:t>SessionRecorder.record_turn()</a:t>
            </a:r>
            <a:endParaRPr lang="ko-KR" altLang="en-US"/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rPr lang="ko-KR" altLang="en-US"/>
              <a:t>· data/raw/ai_chat/&lt;session_id&gt;.jsonl 원문 append</a:t>
            </a:r>
            <a:endParaRPr lang="ko-KR" altLang="en-US"/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rPr lang="ko-KR" altLang="en-US"/>
              <a:t>· FactExtractor.extract() — 이번 턴만 보고 원자 사실 추출</a:t>
            </a:r>
            <a:endParaRPr lang="ko-KR" altLang="en-US"/>
          </a:p>
        </p:txBody>
      </p:sp>
      <p:cxnSp>
        <p:nvCxnSpPr>
          <p:cNvPr id="9" name="Connector 8"/>
          <p:cNvCxnSpPr/>
          <p:nvPr/>
        </p:nvCxnSpPr>
        <p:spPr>
          <a:xfrm>
            <a:off x="3223260" y="3017520"/>
            <a:ext cx="0" cy="18288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3200400"/>
            <a:ext cx="5440680" cy="502920"/>
          </a:xfrm>
          <a:prstGeom prst="roundRect">
            <a:avLst>
              <a:gd name="adj" fmla="val 16667"/>
            </a:avLst>
          </a:prstGeom>
          <a:solidFill>
            <a:srgbClr val="dde9f7"/>
          </a:solidFill>
          <a:ln w="1905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anchor="ctr"/>
          <a:lstStyle/>
          <a:p>
            <a:pPr algn="l">
              <a:defRPr sz="1300" b="1">
                <a:solidFill>
                  <a:srgbClr val="2e5eaa"/>
                </a:solidFill>
              </a:defRPr>
            </a:pPr>
            <a:r>
              <a:rPr lang="ko-KR" altLang="en-US"/>
              <a:t>memory.add(tier="stm") → facts.sqlite3</a:t>
            </a:r>
            <a:endParaRPr lang="ko-KR" altLang="en-US"/>
          </a:p>
        </p:txBody>
      </p:sp>
      <p:cxnSp>
        <p:nvCxnSpPr>
          <p:cNvPr id="11" name="Connector 10"/>
          <p:cNvCxnSpPr/>
          <p:nvPr/>
        </p:nvCxnSpPr>
        <p:spPr>
          <a:xfrm>
            <a:off x="3223260" y="3703320"/>
            <a:ext cx="0" cy="18288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886200"/>
            <a:ext cx="5440680" cy="685800"/>
          </a:xfrm>
          <a:prstGeom prst="roundRect">
            <a:avLst>
              <a:gd name="adj" fmla="val 16667"/>
            </a:avLst>
          </a:prstGeom>
          <a:solidFill>
            <a:srgbClr val="fbe7ce"/>
          </a:solidFill>
          <a:ln w="1905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anchor="ctr"/>
          <a:lstStyle/>
          <a:p>
            <a:pPr algn="l">
              <a:defRPr sz="1200" b="1">
                <a:solidFill>
                  <a:srgbClr val="b45f06"/>
                </a:solidFill>
              </a:defRPr>
            </a:pPr>
            <a:r>
              <a:rPr lang="ko-KR" altLang="en-US"/>
              <a:t>_check_promotion()</a:t>
            </a:r>
            <a:endParaRPr lang="ko-KR" altLang="en-US"/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rPr lang="ko-KR" altLang="en-US"/>
              <a:t>· promote_touched() — 이번 턴 조회수 상승분만 확인 → 조건 충족 시 STM→MTM 즉시 승격</a:t>
            </a:r>
            <a:endParaRPr lang="ko-KR" altLang="en-US"/>
          </a:p>
        </p:txBody>
      </p:sp>
      <p:cxnSp>
        <p:nvCxnSpPr>
          <p:cNvPr id="13" name="Connector 12"/>
          <p:cNvCxnSpPr/>
          <p:nvPr/>
        </p:nvCxnSpPr>
        <p:spPr>
          <a:xfrm>
            <a:off x="3223260" y="4572000"/>
            <a:ext cx="0" cy="182880"/>
          </a:xfrm>
          <a:prstGeom prst="line">
            <a:avLst/>
          </a:prstGeom>
          <a:ln w="22225">
            <a:solidFill>
              <a:srgbClr val="5555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4773168"/>
            <a:ext cx="5440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55555"/>
                </a:solidFill>
              </a:defRPr>
            </a:pPr>
            <a:r>
              <a:t>별도 배치 실행 (memory_promote.run() / --ltm)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83480"/>
            <a:ext cx="5440680" cy="868680"/>
          </a:xfrm>
          <a:prstGeom prst="roundRect">
            <a:avLst>
              <a:gd name="adj" fmla="val 16667"/>
            </a:avLst>
          </a:prstGeom>
          <a:solidFill>
            <a:srgbClr val="e1f2e1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anchor="ctr"/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rPr lang="ko-KR" altLang="en-US"/>
              <a:t>배치 승격 · 정리</a:t>
            </a:r>
            <a:endParaRPr lang="ko-KR" altLang="en-US"/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rPr lang="ko-KR" altLang="en-US"/>
              <a:t>· STM 폐기(창 밖+조회수 미달) · MTM 중복 통합</a:t>
            </a:r>
            <a:endParaRPr lang="ko-KR" altLang="en-US"/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rPr lang="ko-KR" altLang="en-US"/>
              <a:t>· MTM→LTM: 3기준 통과 + 기존 LTM 대조 → 신규/중복폐기/갱신</a:t>
            </a:r>
            <a:endParaRPr lang="ko-KR" altLang="en-US"/>
          </a:p>
        </p:txBody>
      </p:sp>
      <p:sp>
        <p:nvSpPr>
          <p:cNvPr id="16" name="Rounded Rectangle 15"/>
          <p:cNvSpPr/>
          <p:nvPr/>
        </p:nvSpPr>
        <p:spPr>
          <a:xfrm>
            <a:off x="6263640" y="1463040"/>
            <a:ext cx="5440680" cy="502920"/>
          </a:xfrm>
          <a:prstGeom prst="roundRect">
            <a:avLst>
              <a:gd name="adj" fmla="val 16667"/>
            </a:avLst>
          </a:prstGeom>
          <a:solidFill>
            <a:srgbClr val="dde9f7"/>
          </a:solidFill>
          <a:ln w="19050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anchor="ctr"/>
          <a:lstStyle/>
          <a:p>
            <a:pPr algn="l">
              <a:defRPr sz="1250" b="1">
                <a:solidFill>
                  <a:srgbClr val="2e5eaa"/>
                </a:solidFill>
              </a:defRPr>
            </a:pPr>
            <a:r>
              <a:rPr lang="ko-KR" altLang="en-US"/>
              <a:t>config/doc_rag.yaml corpus.roots</a:t>
            </a:r>
            <a:endParaRPr lang="ko-KR" altLang="en-US"/>
          </a:p>
          <a:p>
            <a:pPr algn="l">
              <a:defRPr sz="1050">
                <a:solidFill>
                  <a:srgbClr val="1f2a44"/>
                </a:solidFill>
              </a:defRPr>
            </a:pPr>
            <a:r>
              <a:rPr lang="ko-KR" altLang="en-US"/>
              <a:t>· 프로젝트 파일 폴더 — 채팅과 무관</a:t>
            </a:r>
            <a:endParaRPr lang="ko-KR" altLang="en-US"/>
          </a:p>
        </p:txBody>
      </p:sp>
      <p:cxnSp>
        <p:nvCxnSpPr>
          <p:cNvPr id="17" name="Connector 16"/>
          <p:cNvCxnSpPr/>
          <p:nvPr/>
        </p:nvCxnSpPr>
        <p:spPr>
          <a:xfrm>
            <a:off x="8983980" y="1965960"/>
            <a:ext cx="0" cy="18288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2148840"/>
            <a:ext cx="5440680" cy="960120"/>
          </a:xfrm>
          <a:prstGeom prst="roundRect">
            <a:avLst/>
          </a:prstGeom>
          <a:solidFill>
            <a:srgbClr val="E1F2E1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python -m doc_rag.ingest  (오프라인 배치)</a:t>
            </a:r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t>· walk_corpus → Docling 변환 → 형식별 청킹</a:t>
            </a:r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t>· 임베딩(mE5-base)</a:t>
            </a:r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t>· → index/doc_rag/{chunks.sqlite3, embeddings.npy}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83980" y="3108960"/>
            <a:ext cx="0" cy="18288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63640" y="3291840"/>
            <a:ext cx="5440680" cy="868680"/>
          </a:xfrm>
          <a:prstGeom prst="roundRect">
            <a:avLst/>
          </a:prstGeom>
          <a:solidFill>
            <a:srgbClr val="E1F2E1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python -m graph_rag.build  (오프라인 배치)</a:t>
            </a:r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t>· doc_rag 청크에서 닫힌 어휘(schema.py) 개체 표기 탐지</a:t>
            </a:r>
          </a:p>
          <a:p>
            <a:pPr algn="l">
              <a:defRPr sz="1000">
                <a:solidFill>
                  <a:srgbClr val="1F2A44"/>
                </a:solidFill>
              </a:defRPr>
            </a:pPr>
            <a:r>
              <a:t>· 구조 엣지 + MENTIONS + CO_OCCURS → graph.sqlite3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83980" y="4160520"/>
            <a:ext cx="0" cy="18288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63640" y="4343400"/>
            <a:ext cx="5440680" cy="731520"/>
          </a:xfrm>
          <a:prstGeom prst="roundRect">
            <a:avLst/>
          </a:prstGeom>
          <a:solidFill>
            <a:srgbClr val="FBE7CE"/>
          </a:solidFill>
          <a:ln w="1905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defRPr sz="1250" b="1">
                <a:solidFill>
                  <a:srgbClr val="B45F06"/>
                </a:solidFill>
              </a:defRPr>
            </a:pPr>
            <a:r>
              <a:t>= LTM급 근거로 즉시 취급</a:t>
            </a:r>
          </a:p>
          <a:p>
            <a:pPr algn="l">
              <a:defRPr sz="1050">
                <a:solidFill>
                  <a:srgbClr val="1F2A44"/>
                </a:solidFill>
              </a:defRPr>
            </a:pPr>
            <a:r>
              <a:t>· 승격 절차 없음 — doc_rag 자체가 에이전트의 장기기억(LTM) 역할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238</ep:Words>
  <ep:PresentationFormat>On-screen Show (4:3)</ep:PresentationFormat>
  <ep:Paragraphs>46</ep:Paragraphs>
  <ep:Slides>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Office Theme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123wh</cp:lastModifiedBy>
  <dcterms:modified xsi:type="dcterms:W3CDTF">2026-09-03T00:36:04.374</dcterms:modified>
  <cp:revision>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