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01168"/>
            <a:ext cx="112471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F2A44"/>
                </a:solidFill>
              </a:defRPr>
            </a:pPr>
            <a:r>
              <a:t>설계 근거 정리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685800"/>
            <a:ext cx="112471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50">
                <a:solidFill>
                  <a:srgbClr val="555555"/>
                </a:solidFill>
              </a:defRPr>
            </a:pPr>
            <a:r>
              <a:t>Org-AI-Body 메모리·검색 파이프라인 — 5개 주제</a:t>
            </a:r>
          </a:p>
        </p:txBody>
      </p:sp>
      <p:sp>
        <p:nvSpPr>
          <p:cNvPr id="4" name="Oval 3"/>
          <p:cNvSpPr/>
          <p:nvPr/>
        </p:nvSpPr>
        <p:spPr>
          <a:xfrm>
            <a:off x="822960" y="1508760"/>
            <a:ext cx="621792" cy="621792"/>
          </a:xfrm>
          <a:prstGeom prst="ellipse">
            <a:avLst/>
          </a:prstGeom>
          <a:solidFill>
            <a:srgbClr val="2E5E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400" b="1">
                <a:solidFill>
                  <a:srgbClr val="FFFFFF"/>
                </a:solidFill>
              </a:defRPr>
            </a:pPr>
            <a:r>
              <a:t>1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691640" y="1508760"/>
            <a:ext cx="9646920" cy="621792"/>
          </a:xfrm>
          <a:prstGeom prst="roundRect">
            <a:avLst/>
          </a:prstGeom>
          <a:solidFill>
            <a:srgbClr val="DDE9F7"/>
          </a:solidFill>
          <a:ln w="19050">
            <a:solidFill>
              <a:srgbClr val="2E5EA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/>
          <a:lstStyle/>
          <a:p>
            <a:pPr algn="ctr">
              <a:defRPr sz="1800" b="1">
                <a:solidFill>
                  <a:srgbClr val="1F2A44"/>
                </a:solidFill>
              </a:defRPr>
            </a:pPr>
            <a:r>
              <a:t>MTM → LTM 승격 방식 정의</a:t>
            </a:r>
          </a:p>
        </p:txBody>
      </p:sp>
      <p:sp>
        <p:nvSpPr>
          <p:cNvPr id="6" name="Oval 5"/>
          <p:cNvSpPr/>
          <p:nvPr/>
        </p:nvSpPr>
        <p:spPr>
          <a:xfrm>
            <a:off x="822960" y="2441448"/>
            <a:ext cx="621792" cy="621792"/>
          </a:xfrm>
          <a:prstGeom prst="ellipse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400" b="1">
                <a:solidFill>
                  <a:srgbClr val="FFFFFF"/>
                </a:solidFill>
              </a:defRPr>
            </a:pPr>
            <a:r>
              <a:t>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691640" y="2441448"/>
            <a:ext cx="9646920" cy="621792"/>
          </a:xfrm>
          <a:prstGeom prst="roundRect">
            <a:avLst/>
          </a:prstGeom>
          <a:solidFill>
            <a:srgbClr val="E1F2E1"/>
          </a:solidFill>
          <a:ln w="19050">
            <a:solidFill>
              <a:srgbClr val="2E7D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/>
          <a:lstStyle/>
          <a:p>
            <a:pPr algn="ctr">
              <a:defRPr sz="1800" b="1">
                <a:solidFill>
                  <a:srgbClr val="1F2A44"/>
                </a:solidFill>
              </a:defRPr>
            </a:pPr>
            <a:r>
              <a:t>문서 코퍼스 입력 시 처리 분기 정의</a:t>
            </a:r>
          </a:p>
        </p:txBody>
      </p:sp>
      <p:sp>
        <p:nvSpPr>
          <p:cNvPr id="8" name="Oval 7"/>
          <p:cNvSpPr/>
          <p:nvPr/>
        </p:nvSpPr>
        <p:spPr>
          <a:xfrm>
            <a:off x="822960" y="3374136"/>
            <a:ext cx="621792" cy="621792"/>
          </a:xfrm>
          <a:prstGeom prst="ellipse">
            <a:avLst/>
          </a:prstGeom>
          <a:solidFill>
            <a:srgbClr val="B45F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400" b="1">
                <a:solidFill>
                  <a:srgbClr val="FFFFFF"/>
                </a:solidFill>
              </a:defRPr>
            </a:pPr>
            <a:r>
              <a:t>3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691640" y="3374136"/>
            <a:ext cx="9646920" cy="621792"/>
          </a:xfrm>
          <a:prstGeom prst="roundRect">
            <a:avLst/>
          </a:prstGeom>
          <a:solidFill>
            <a:srgbClr val="FBE7CE"/>
          </a:solidFill>
          <a:ln w="19050">
            <a:solidFill>
              <a:srgbClr val="B45F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/>
          <a:lstStyle/>
          <a:p>
            <a:pPr algn="ctr">
              <a:defRPr sz="1800" b="1">
                <a:solidFill>
                  <a:srgbClr val="1F2A44"/>
                </a:solidFill>
              </a:defRPr>
            </a:pPr>
            <a:r>
              <a:t>지식그래프 검색(엔티티 해소) 성능 개선</a:t>
            </a:r>
          </a:p>
        </p:txBody>
      </p:sp>
      <p:sp>
        <p:nvSpPr>
          <p:cNvPr id="10" name="Oval 9"/>
          <p:cNvSpPr/>
          <p:nvPr/>
        </p:nvSpPr>
        <p:spPr>
          <a:xfrm>
            <a:off x="822960" y="4306824"/>
            <a:ext cx="621792" cy="621792"/>
          </a:xfrm>
          <a:prstGeom prst="ellipse">
            <a:avLst/>
          </a:prstGeom>
          <a:solidFill>
            <a:srgbClr val="6A3D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400" b="1">
                <a:solidFill>
                  <a:srgbClr val="FFFFFF"/>
                </a:solidFill>
              </a:defRPr>
            </a:pPr>
            <a:r>
              <a:t>4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691640" y="4306824"/>
            <a:ext cx="9646920" cy="621792"/>
          </a:xfrm>
          <a:prstGeom prst="roundRect">
            <a:avLst/>
          </a:prstGeom>
          <a:solidFill>
            <a:srgbClr val="ECE1F6"/>
          </a:solidFill>
          <a:ln w="19050">
            <a:solidFill>
              <a:srgbClr val="6A3D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/>
          <a:lstStyle/>
          <a:p>
            <a:pPr algn="ctr">
              <a:defRPr sz="1800" b="1">
                <a:solidFill>
                  <a:srgbClr val="1F2A44"/>
                </a:solidFill>
              </a:defRPr>
            </a:pPr>
            <a:r>
              <a:t>임베딩/리랭커 모델 메모리 탑재·재사용</a:t>
            </a:r>
          </a:p>
        </p:txBody>
      </p:sp>
      <p:sp>
        <p:nvSpPr>
          <p:cNvPr id="12" name="Oval 11"/>
          <p:cNvSpPr/>
          <p:nvPr/>
        </p:nvSpPr>
        <p:spPr>
          <a:xfrm>
            <a:off x="822960" y="5239512"/>
            <a:ext cx="621792" cy="621792"/>
          </a:xfrm>
          <a:prstGeom prst="ellipse">
            <a:avLst/>
          </a:prstGeom>
          <a:solidFill>
            <a:srgbClr val="A62C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400" b="1">
                <a:solidFill>
                  <a:srgbClr val="FFFFFF"/>
                </a:solidFill>
              </a:defRPr>
            </a:pPr>
            <a:r>
              <a:t>5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691640" y="5239512"/>
            <a:ext cx="9646920" cy="621792"/>
          </a:xfrm>
          <a:prstGeom prst="roundRect">
            <a:avLst/>
          </a:prstGeom>
          <a:solidFill>
            <a:srgbClr val="FADEDE"/>
          </a:solidFill>
          <a:ln w="19050">
            <a:solidFill>
              <a:srgbClr val="A62C2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/>
          <a:lstStyle/>
          <a:p>
            <a:pPr algn="ctr">
              <a:defRPr sz="1800" b="1">
                <a:solidFill>
                  <a:srgbClr val="1F2A44"/>
                </a:solidFill>
              </a:defRPr>
            </a:pPr>
            <a:r>
              <a:t>STM/MTM/LTM 분기 구조 — 타 아키텍처 비교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01168"/>
            <a:ext cx="112471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F2A44"/>
                </a:solidFill>
              </a:defRPr>
            </a:pPr>
            <a:r>
              <a:t>1. MTM → LTM 승격 방식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685800"/>
            <a:ext cx="112471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50">
                <a:solidFill>
                  <a:srgbClr val="555555"/>
                </a:solidFill>
              </a:defRPr>
            </a:pPr>
            <a:r>
              <a:t>3개 기준(AND) 통과 → 기존 LTM과 1:1 대조해 신규/중복폐기/갱신 판정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234440"/>
            <a:ext cx="11247120" cy="1371600"/>
          </a:xfrm>
          <a:prstGeom prst="roundRect">
            <a:avLst/>
          </a:prstGeom>
          <a:solidFill>
            <a:srgbClr val="DDE9F7"/>
          </a:solidFill>
          <a:ln w="25400">
            <a:solidFill>
              <a:srgbClr val="2E5EA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73152" bIns="73152"/>
          <a:lstStyle/>
          <a:p>
            <a:pPr algn="l">
              <a:defRPr sz="1600" b="1">
                <a:solidFill>
                  <a:srgbClr val="2E5EAA"/>
                </a:solidFill>
              </a:defRPr>
            </a:pPr>
            <a:r>
              <a:t>1단계 — 3개 기준 AND 게이트</a:t>
            </a:r>
          </a:p>
          <a:p>
            <a:pPr algn="l">
              <a:spcBef>
                <a:spcPts val="300"/>
              </a:spcBef>
              <a:defRPr sz="1400">
                <a:solidFill>
                  <a:srgbClr val="1F2A44"/>
                </a:solidFill>
              </a:defRPr>
            </a:pPr>
            <a:r>
              <a:t>•  출처(traceable) — source_id → 원문 로그 매칭 (결정적)</a:t>
            </a:r>
          </a:p>
          <a:p>
            <a:pPr algn="l">
              <a:spcBef>
                <a:spcPts val="300"/>
              </a:spcBef>
              <a:defRPr sz="1400">
                <a:solidFill>
                  <a:srgbClr val="1F2A44"/>
                </a:solidFill>
              </a:defRPr>
            </a:pPr>
            <a:r>
              <a:t>•  진실성·유용성(truthful/useful) — LLM 판정 (문서 근거 힌트)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6080760" y="2606040"/>
            <a:ext cx="0" cy="274320"/>
          </a:xfrm>
          <a:prstGeom prst="line">
            <a:avLst/>
          </a:prstGeom>
          <a:ln w="38100" cap="rnd">
            <a:solidFill>
              <a:srgbClr val="555555"/>
            </a:solidFill>
            <a:round/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ounded Rectangle 5"/>
          <p:cNvSpPr/>
          <p:nvPr/>
        </p:nvSpPr>
        <p:spPr>
          <a:xfrm>
            <a:off x="3566160" y="2880360"/>
            <a:ext cx="5029200" cy="594360"/>
          </a:xfrm>
          <a:prstGeom prst="roundRect">
            <a:avLst/>
          </a:prstGeom>
          <a:solidFill>
            <a:srgbClr val="ECE1F6"/>
          </a:solidFill>
          <a:ln w="25400">
            <a:solidFill>
              <a:srgbClr val="6A3D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73152" bIns="73152"/>
          <a:lstStyle/>
          <a:p>
            <a:pPr algn="l">
              <a:defRPr sz="1500" b="1">
                <a:solidFill>
                  <a:srgbClr val="6A3D9A"/>
                </a:solidFill>
              </a:defRPr>
            </a:pPr>
            <a:r>
              <a:t>2단계 — 기존 LTM 1:1 대조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6080760" y="3474720"/>
            <a:ext cx="0" cy="274319"/>
          </a:xfrm>
          <a:prstGeom prst="line">
            <a:avLst/>
          </a:prstGeom>
          <a:ln w="38100" cap="rnd">
            <a:solidFill>
              <a:srgbClr val="555555"/>
            </a:solidFill>
            <a:round/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ounded Rectangle 7"/>
          <p:cNvSpPr/>
          <p:nvPr/>
        </p:nvSpPr>
        <p:spPr>
          <a:xfrm>
            <a:off x="457200" y="3749039"/>
            <a:ext cx="5440680" cy="1298448"/>
          </a:xfrm>
          <a:prstGeom prst="roundRect">
            <a:avLst/>
          </a:prstGeom>
          <a:solidFill>
            <a:srgbClr val="E1F2E1"/>
          </a:solidFill>
          <a:ln w="25400">
            <a:solidFill>
              <a:srgbClr val="2E7D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73152" bIns="73152"/>
          <a:lstStyle/>
          <a:p>
            <a:pPr algn="l">
              <a:defRPr sz="1550" b="1">
                <a:solidFill>
                  <a:srgbClr val="2E7D32"/>
                </a:solidFill>
              </a:defRPr>
            </a:pPr>
            <a:r>
              <a:t>무관한 사안</a:t>
            </a:r>
          </a:p>
          <a:p>
            <a:pPr algn="l">
              <a:spcBef>
                <a:spcPts val="300"/>
              </a:spcBef>
              <a:defRPr sz="1300">
                <a:solidFill>
                  <a:srgbClr val="1F2A44"/>
                </a:solidFill>
              </a:defRPr>
            </a:pPr>
            <a:r>
              <a:t>•  주제 유사도 낮음</a:t>
            </a:r>
          </a:p>
          <a:p>
            <a:pPr algn="l">
              <a:spcBef>
                <a:spcPts val="300"/>
              </a:spcBef>
              <a:defRPr sz="1300">
                <a:solidFill>
                  <a:srgbClr val="1F2A44"/>
                </a:solidFill>
              </a:defRPr>
            </a:pPr>
            <a:r>
              <a:t>•  → 신규 승격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63640" y="3749039"/>
            <a:ext cx="5440680" cy="1298448"/>
          </a:xfrm>
          <a:prstGeom prst="roundRect">
            <a:avLst/>
          </a:prstGeom>
          <a:solidFill>
            <a:srgbClr val="FADEDE"/>
          </a:solidFill>
          <a:ln w="25400">
            <a:solidFill>
              <a:srgbClr val="A62C2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73152" bIns="73152"/>
          <a:lstStyle/>
          <a:p>
            <a:pPr algn="l">
              <a:defRPr sz="1550" b="1">
                <a:solidFill>
                  <a:srgbClr val="A62C2C"/>
                </a:solidFill>
              </a:defRPr>
            </a:pPr>
            <a:r>
              <a:t>같은 사실(중복)</a:t>
            </a:r>
          </a:p>
          <a:p>
            <a:pPr algn="l">
              <a:spcBef>
                <a:spcPts val="300"/>
              </a:spcBef>
              <a:defRPr sz="1300">
                <a:solidFill>
                  <a:srgbClr val="1F2A44"/>
                </a:solidFill>
              </a:defRPr>
            </a:pPr>
            <a:r>
              <a:t>•  주제 유사 · 내용 일치</a:t>
            </a:r>
          </a:p>
          <a:p>
            <a:pPr algn="l">
              <a:spcBef>
                <a:spcPts val="300"/>
              </a:spcBef>
              <a:defRPr sz="1300">
                <a:solidFill>
                  <a:srgbClr val="1F2A44"/>
                </a:solidFill>
              </a:defRPr>
            </a:pPr>
            <a:r>
              <a:t>•  → 후보 폐기 (기존 LTM 유지)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5276088"/>
            <a:ext cx="5440680" cy="1298448"/>
          </a:xfrm>
          <a:prstGeom prst="roundRect">
            <a:avLst/>
          </a:prstGeom>
          <a:solidFill>
            <a:srgbClr val="FBE7CE"/>
          </a:solidFill>
          <a:ln w="25400">
            <a:solidFill>
              <a:srgbClr val="B45F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73152" bIns="73152"/>
          <a:lstStyle/>
          <a:p>
            <a:pPr algn="l">
              <a:defRPr sz="1550" b="1">
                <a:solidFill>
                  <a:srgbClr val="B45F06"/>
                </a:solidFill>
              </a:defRPr>
            </a:pPr>
            <a:r>
              <a:t>같은 사안·다른 정보</a:t>
            </a:r>
          </a:p>
          <a:p>
            <a:pPr algn="l">
              <a:spcBef>
                <a:spcPts val="300"/>
              </a:spcBef>
              <a:defRPr sz="1300">
                <a:solidFill>
                  <a:srgbClr val="1F2A44"/>
                </a:solidFill>
              </a:defRPr>
            </a:pPr>
            <a:r>
              <a:t>•  주제 유사 · 내용 다름</a:t>
            </a:r>
          </a:p>
          <a:p>
            <a:pPr algn="l">
              <a:spcBef>
                <a:spcPts val="300"/>
              </a:spcBef>
              <a:defRPr sz="1300">
                <a:solidFill>
                  <a:srgbClr val="1F2A44"/>
                </a:solidFill>
              </a:defRPr>
            </a:pPr>
            <a:r>
              <a:t>•  → 기존 LTM 갱신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63640" y="5276088"/>
            <a:ext cx="5440680" cy="1298448"/>
          </a:xfrm>
          <a:prstGeom prst="roundRect">
            <a:avLst/>
          </a:prstGeom>
          <a:solidFill>
            <a:srgbClr val="DDE9F7"/>
          </a:solidFill>
          <a:ln w="25400">
            <a:solidFill>
              <a:srgbClr val="2E5EA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73152" bIns="73152"/>
          <a:lstStyle/>
          <a:p>
            <a:pPr algn="l">
              <a:defRPr sz="1550" b="1">
                <a:solidFill>
                  <a:srgbClr val="2E5EAA"/>
                </a:solidFill>
              </a:defRPr>
            </a:pPr>
            <a:r>
              <a:t>표면만 겹친 무관</a:t>
            </a:r>
          </a:p>
          <a:p>
            <a:pPr algn="l">
              <a:spcBef>
                <a:spcPts val="300"/>
              </a:spcBef>
              <a:defRPr sz="1300">
                <a:solidFill>
                  <a:srgbClr val="1F2A44"/>
                </a:solidFill>
              </a:defRPr>
            </a:pPr>
            <a:r>
              <a:t>•  주제 유사 · 내용 무관</a:t>
            </a:r>
          </a:p>
          <a:p>
            <a:pPr algn="l">
              <a:spcBef>
                <a:spcPts val="300"/>
              </a:spcBef>
              <a:defRPr sz="1300">
                <a:solidFill>
                  <a:srgbClr val="1F2A44"/>
                </a:solidFill>
              </a:defRPr>
            </a:pPr>
            <a:r>
              <a:t>•  → 신규 승격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6528816"/>
            <a:ext cx="112471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i="1">
                <a:solidFill>
                  <a:srgbClr val="555555"/>
                </a:solidFill>
              </a:defRPr>
            </a:pPr>
            <a:r>
              <a:t>UPDATE_FLOOR=-6.0 = 실측 보정치 (오분류 사례: 코사인 0.85·상호함의 -7.65, "담당자 변경" vs "전담기관명") · memory_promote.py:267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01168"/>
            <a:ext cx="112471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F2A44"/>
                </a:solidFill>
              </a:defRPr>
            </a:pPr>
            <a:r>
              <a:t>2. 문서 코퍼스 입력 시 처리 분기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685800"/>
            <a:ext cx="112471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50">
                <a:solidFill>
                  <a:srgbClr val="555555"/>
                </a:solidFill>
              </a:defRPr>
            </a:pPr>
            <a:r>
              <a:t>4중 스킵 필터 → 3단 변환 폴백 → 형식별 청킹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023360" y="1188720"/>
            <a:ext cx="4114800" cy="548640"/>
          </a:xfrm>
          <a:prstGeom prst="roundRect">
            <a:avLst/>
          </a:prstGeom>
          <a:solidFill>
            <a:srgbClr val="DDE9F7"/>
          </a:solidFill>
          <a:ln w="25400">
            <a:solidFill>
              <a:srgbClr val="2E5EA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73152" bIns="73152"/>
          <a:lstStyle/>
          <a:p>
            <a:pPr algn="ctr">
              <a:defRPr sz="1600" b="1">
                <a:solidFill>
                  <a:srgbClr val="2E5EAA"/>
                </a:solidFill>
              </a:defRPr>
            </a:pPr>
            <a:r>
              <a:t>파일 1건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6080760" y="1737360"/>
            <a:ext cx="0" cy="228600"/>
          </a:xfrm>
          <a:prstGeom prst="line">
            <a:avLst/>
          </a:prstGeom>
          <a:ln w="38100" cap="rnd">
            <a:solidFill>
              <a:srgbClr val="555555"/>
            </a:solidFill>
            <a:round/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ounded Rectangle 5"/>
          <p:cNvSpPr/>
          <p:nvPr/>
        </p:nvSpPr>
        <p:spPr>
          <a:xfrm>
            <a:off x="457200" y="2011680"/>
            <a:ext cx="5440680" cy="777240"/>
          </a:xfrm>
          <a:prstGeom prst="roundRect">
            <a:avLst/>
          </a:prstGeom>
          <a:solidFill>
            <a:srgbClr val="FADEDE"/>
          </a:solidFill>
          <a:ln w="25400">
            <a:solidFill>
              <a:srgbClr val="B45F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73152" bIns="73152"/>
          <a:lstStyle/>
          <a:p>
            <a:pPr algn="ctr">
              <a:defRPr sz="1500" b="1">
                <a:solidFill>
                  <a:srgbClr val="B45F06"/>
                </a:solidFill>
              </a:defRPr>
            </a:pPr>
            <a:r>
              <a:t>확장자 미지원 → skip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63640" y="2011680"/>
            <a:ext cx="5440680" cy="777240"/>
          </a:xfrm>
          <a:prstGeom prst="roundRect">
            <a:avLst/>
          </a:prstGeom>
          <a:solidFill>
            <a:srgbClr val="FADEDE"/>
          </a:solidFill>
          <a:ln w="25400">
            <a:solidFill>
              <a:srgbClr val="B45F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73152" bIns="73152"/>
          <a:lstStyle/>
          <a:p>
            <a:pPr algn="ctr">
              <a:defRPr sz="1500" b="1">
                <a:solidFill>
                  <a:srgbClr val="B45F06"/>
                </a:solidFill>
              </a:defRPr>
            </a:pPr>
            <a:r>
              <a:t>크기 &gt; 120MB → skip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2926080"/>
            <a:ext cx="5440680" cy="777240"/>
          </a:xfrm>
          <a:prstGeom prst="roundRect">
            <a:avLst/>
          </a:prstGeom>
          <a:solidFill>
            <a:srgbClr val="FADEDE"/>
          </a:solidFill>
          <a:ln w="25400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73152" bIns="73152"/>
          <a:lstStyle/>
          <a:p>
            <a:pPr algn="ctr">
              <a:defRPr sz="1500" b="1">
                <a:solidFill>
                  <a:srgbClr val="555555"/>
                </a:solidFill>
              </a:defRPr>
            </a:pPr>
            <a:r>
              <a:t>캐시 일치(mtime 동일) → skip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63640" y="2926080"/>
            <a:ext cx="5440680" cy="777240"/>
          </a:xfrm>
          <a:prstGeom prst="roundRect">
            <a:avLst/>
          </a:prstGeom>
          <a:solidFill>
            <a:srgbClr val="FADEDE"/>
          </a:solidFill>
          <a:ln w="25400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73152" bIns="73152"/>
          <a:lstStyle/>
          <a:p>
            <a:pPr algn="ctr">
              <a:defRPr sz="1500" b="1">
                <a:solidFill>
                  <a:srgbClr val="555555"/>
                </a:solidFill>
              </a:defRPr>
            </a:pPr>
            <a:r>
              <a:t>SHA256 중복 문서 → skip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6080760" y="3703320"/>
            <a:ext cx="0" cy="228600"/>
          </a:xfrm>
          <a:prstGeom prst="line">
            <a:avLst/>
          </a:prstGeom>
          <a:ln w="38100" cap="rnd">
            <a:solidFill>
              <a:srgbClr val="555555"/>
            </a:solidFill>
            <a:round/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457200" y="3712463"/>
            <a:ext cx="11247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555555"/>
                </a:solidFill>
              </a:defRPr>
            </a:pPr>
            <a:r>
              <a:t>4개 필터 통과 → 진행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154680" y="3977639"/>
            <a:ext cx="5852160" cy="566928"/>
          </a:xfrm>
          <a:prstGeom prst="roundRect">
            <a:avLst/>
          </a:prstGeom>
          <a:solidFill>
            <a:srgbClr val="E1F2E1"/>
          </a:solidFill>
          <a:ln w="25400">
            <a:solidFill>
              <a:srgbClr val="2E7D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73152" bIns="73152"/>
          <a:lstStyle/>
          <a:p>
            <a:pPr algn="ctr">
              <a:defRPr sz="1500" b="1">
                <a:solidFill>
                  <a:srgbClr val="2E7D32"/>
                </a:solidFill>
              </a:defRPr>
            </a:pPr>
            <a:r>
              <a:t>1차: docling-parse 변환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0" y="3959352"/>
            <a:ext cx="2743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50" b="1">
                <a:solidFill>
                  <a:srgbClr val="A62C2C"/>
                </a:solidFill>
              </a:defRPr>
            </a:pPr>
            <a:r>
              <a:t>실패 시</a:t>
            </a:r>
          </a:p>
          <a:p>
            <a:pPr algn="l">
              <a:defRPr sz="1150" b="1">
                <a:solidFill>
                  <a:srgbClr val="A62C2C"/>
                </a:solidFill>
              </a:defRPr>
            </a:pPr>
            <a:r>
              <a:t>(PDF만)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6080760" y="4544568"/>
            <a:ext cx="0" cy="301752"/>
          </a:xfrm>
          <a:prstGeom prst="line">
            <a:avLst/>
          </a:prstGeom>
          <a:ln w="38100" cap="rnd">
            <a:solidFill>
              <a:srgbClr val="555555"/>
            </a:solidFill>
            <a:round/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3154680" y="4663440"/>
            <a:ext cx="5852160" cy="566928"/>
          </a:xfrm>
          <a:prstGeom prst="roundRect">
            <a:avLst/>
          </a:prstGeom>
          <a:solidFill>
            <a:srgbClr val="FBE7CE"/>
          </a:solidFill>
          <a:ln w="25400">
            <a:solidFill>
              <a:srgbClr val="B45F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73152" bIns="73152"/>
          <a:lstStyle/>
          <a:p>
            <a:pPr algn="ctr">
              <a:defRPr sz="1500" b="1">
                <a:solidFill>
                  <a:srgbClr val="B45F06"/>
                </a:solidFill>
              </a:defRPr>
            </a:pPr>
            <a:r>
              <a:t>2차: pypdfium 백엔드 재시도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0" y="4645152"/>
            <a:ext cx="2743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50" b="1">
                <a:solidFill>
                  <a:srgbClr val="A62C2C"/>
                </a:solidFill>
              </a:defRPr>
            </a:pPr>
            <a:r>
              <a:t>청크 0개</a:t>
            </a:r>
          </a:p>
          <a:p>
            <a:pPr algn="l">
              <a:defRPr sz="1150" b="1">
                <a:solidFill>
                  <a:srgbClr val="A62C2C"/>
                </a:solidFill>
              </a:defRPr>
            </a:pPr>
            <a:r>
              <a:t>(스캔 PDF)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6080760" y="5230368"/>
            <a:ext cx="0" cy="301752"/>
          </a:xfrm>
          <a:prstGeom prst="line">
            <a:avLst/>
          </a:prstGeom>
          <a:ln w="38100" cap="rnd">
            <a:solidFill>
              <a:srgbClr val="555555"/>
            </a:solidFill>
            <a:round/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ounded Rectangle 17"/>
          <p:cNvSpPr/>
          <p:nvPr/>
        </p:nvSpPr>
        <p:spPr>
          <a:xfrm>
            <a:off x="3154680" y="5349240"/>
            <a:ext cx="5852160" cy="566928"/>
          </a:xfrm>
          <a:prstGeom prst="roundRect">
            <a:avLst/>
          </a:prstGeom>
          <a:solidFill>
            <a:srgbClr val="ECE1F6"/>
          </a:solidFill>
          <a:ln w="25400">
            <a:solidFill>
              <a:srgbClr val="6A3D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73152" bIns="73152"/>
          <a:lstStyle/>
          <a:p>
            <a:pPr algn="ctr">
              <a:defRPr sz="1500" b="1">
                <a:solidFill>
                  <a:srgbClr val="6A3D9A"/>
                </a:solidFill>
              </a:defRPr>
            </a:pPr>
            <a:r>
              <a:t>3차: EasyOCR (OCR 비용 이 단계만)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" y="6528816"/>
            <a:ext cx="112471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i="1">
                <a:solidFill>
                  <a:srgbClr val="555555"/>
                </a:solidFill>
              </a:defRPr>
            </a:pPr>
            <a:r>
              <a:t>실측: PDF 552개 중 306개 텍스트 레이어 없는 스캔본 → 실패 시에만 다음 단계 전환(지연 생성) · doc_rag/ingest.py:148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01168"/>
            <a:ext cx="112471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F2A44"/>
                </a:solidFill>
              </a:defRPr>
            </a:pPr>
            <a:r>
              <a:t>3. 지식그래프 검색(엔티티 해소) 성능 개선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685800"/>
            <a:ext cx="112471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50">
                <a:solidFill>
                  <a:srgbClr val="555555"/>
                </a:solidFill>
              </a:defRPr>
            </a:pPr>
            <a:r>
              <a:t>정확일치 우선 → 실패 시에만 문자 단위 퍼지 매칭 폴백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234440"/>
            <a:ext cx="5394960" cy="822960"/>
          </a:xfrm>
          <a:prstGeom prst="roundRect">
            <a:avLst/>
          </a:prstGeom>
          <a:solidFill>
            <a:srgbClr val="DDE9F7"/>
          </a:solidFill>
          <a:ln w="25400">
            <a:solidFill>
              <a:srgbClr val="2E5EA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73152" bIns="73152"/>
          <a:lstStyle/>
          <a:p>
            <a:pPr algn="l">
              <a:defRPr sz="1500" b="1">
                <a:solidFill>
                  <a:srgbClr val="2E5EAA"/>
                </a:solidFill>
              </a:defRPr>
            </a:pPr>
            <a:r>
              <a:t>질의문</a:t>
            </a:r>
          </a:p>
          <a:p>
            <a:pPr algn="l">
              <a:spcBef>
                <a:spcPts val="300"/>
              </a:spcBef>
              <a:defRPr sz="1300">
                <a:solidFill>
                  <a:srgbClr val="1F2A44"/>
                </a:solidFill>
              </a:defRPr>
            </a:pPr>
            <a:r>
              <a:t>•  예: "경북대산학협력단 담당자는?"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989320" y="1645920"/>
            <a:ext cx="320040" cy="0"/>
          </a:xfrm>
          <a:prstGeom prst="line">
            <a:avLst/>
          </a:prstGeom>
          <a:ln w="38100" cap="rnd">
            <a:solidFill>
              <a:srgbClr val="555555"/>
            </a:solidFill>
            <a:round/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ounded Rectangle 5"/>
          <p:cNvSpPr/>
          <p:nvPr/>
        </p:nvSpPr>
        <p:spPr>
          <a:xfrm>
            <a:off x="6355080" y="1234440"/>
            <a:ext cx="5394960" cy="822960"/>
          </a:xfrm>
          <a:prstGeom prst="roundRect">
            <a:avLst/>
          </a:prstGeom>
          <a:solidFill>
            <a:srgbClr val="E1F2E1"/>
          </a:solidFill>
          <a:ln w="25400">
            <a:solidFill>
              <a:srgbClr val="2E7D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73152" bIns="73152"/>
          <a:lstStyle/>
          <a:p>
            <a:pPr algn="l">
              <a:defRPr sz="1500" b="1">
                <a:solidFill>
                  <a:srgbClr val="2E7D32"/>
                </a:solidFill>
              </a:defRPr>
            </a:pPr>
            <a:r>
              <a:t>표기 완전일치 시도</a:t>
            </a:r>
          </a:p>
          <a:p>
            <a:pPr algn="l">
              <a:spcBef>
                <a:spcPts val="300"/>
              </a:spcBef>
              <a:defRPr sz="1300">
                <a:solidFill>
                  <a:srgbClr val="1F2A44"/>
                </a:solidFill>
              </a:defRPr>
            </a:pPr>
            <a:r>
              <a:t>•  긴 표기 우선 · 빠름 · 오탐 없음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9052560" y="2057400"/>
            <a:ext cx="0" cy="274320"/>
          </a:xfrm>
          <a:prstGeom prst="line">
            <a:avLst/>
          </a:prstGeom>
          <a:ln w="38100" cap="rnd">
            <a:solidFill>
              <a:srgbClr val="555555"/>
            </a:solidFill>
            <a:round/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6355080" y="2075688"/>
            <a:ext cx="5394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B45F06"/>
                </a:solidFill>
              </a:defRPr>
            </a:pPr>
            <a:r>
              <a:t>검색 실패 시 ▼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2377440"/>
            <a:ext cx="11247120" cy="1051560"/>
          </a:xfrm>
          <a:prstGeom prst="roundRect">
            <a:avLst/>
          </a:prstGeom>
          <a:solidFill>
            <a:srgbClr val="FBE7CE"/>
          </a:solidFill>
          <a:ln w="25400">
            <a:solidFill>
              <a:srgbClr val="B45F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73152" bIns="73152"/>
          <a:lstStyle/>
          <a:p>
            <a:pPr algn="l">
              <a:defRPr sz="1550" b="1">
                <a:solidFill>
                  <a:srgbClr val="B45F06"/>
                </a:solidFill>
              </a:defRPr>
            </a:pPr>
            <a:r>
              <a:t>퍼지 매칭 폴백</a:t>
            </a:r>
          </a:p>
          <a:p>
            <a:pPr algn="l">
              <a:spcBef>
                <a:spcPts val="300"/>
              </a:spcBef>
              <a:defRPr sz="1300">
                <a:solidFill>
                  <a:srgbClr val="1F2A44"/>
                </a:solidFill>
              </a:defRPr>
            </a:pPr>
            <a:r>
              <a:t>•  표기 길이 유사 부분문자열 전수비교 (difflib.SequenceMatcher)</a:t>
            </a:r>
          </a:p>
          <a:p>
            <a:pPr algn="l">
              <a:spcBef>
                <a:spcPts val="300"/>
              </a:spcBef>
              <a:defRPr sz="1300">
                <a:solidFill>
                  <a:srgbClr val="1F2A44"/>
                </a:solidFill>
              </a:defRPr>
            </a:pPr>
            <a:r>
              <a:t>•  개체별 최고점수가 문턱 이상 → 채택 (복수 개체 가능)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6080760" y="3429000"/>
            <a:ext cx="0" cy="274320"/>
          </a:xfrm>
          <a:prstGeom prst="line">
            <a:avLst/>
          </a:prstGeom>
          <a:ln w="38100" cap="rnd">
            <a:solidFill>
              <a:srgbClr val="555555"/>
            </a:solidFill>
            <a:round/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457200" y="3749039"/>
            <a:ext cx="5440680" cy="1965960"/>
          </a:xfrm>
          <a:prstGeom prst="roundRect">
            <a:avLst/>
          </a:prstGeom>
          <a:solidFill>
            <a:srgbClr val="ECE1F6"/>
          </a:solidFill>
          <a:ln w="25400">
            <a:solidFill>
              <a:srgbClr val="6A3D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73152" bIns="73152"/>
          <a:lstStyle/>
          <a:p>
            <a:pPr algn="l">
              <a:defRPr sz="1500" b="1">
                <a:solidFill>
                  <a:srgbClr val="6A3D9A"/>
                </a:solidFill>
              </a:defRPr>
            </a:pPr>
            <a:r>
              <a:t>채택 이유 — 임베딩 대신 문자 매칭</a:t>
            </a:r>
          </a:p>
          <a:p>
            <a:pPr algn="l">
              <a:spcBef>
                <a:spcPts val="300"/>
              </a:spcBef>
              <a:defRPr sz="1300">
                <a:solidFill>
                  <a:srgbClr val="1F2A44"/>
                </a:solidFill>
              </a:defRPr>
            </a:pPr>
            <a:r>
              <a:t>•  질의 임베딩 vs 개체 centroid 시도</a:t>
            </a:r>
          </a:p>
          <a:p>
            <a:pPr algn="l">
              <a:spcBef>
                <a:spcPts val="300"/>
              </a:spcBef>
              <a:defRPr sz="1300">
                <a:solidFill>
                  <a:srgbClr val="1F2A44"/>
                </a:solidFill>
              </a:defRPr>
            </a:pPr>
            <a:r>
              <a:t>•  → 단일 코퍼스라 centroid 변별력 無</a:t>
            </a:r>
          </a:p>
          <a:p>
            <a:pPr algn="l">
              <a:spcBef>
                <a:spcPts val="300"/>
              </a:spcBef>
              <a:defRPr sz="1300">
                <a:solidFill>
                  <a:srgbClr val="1F2A44"/>
                </a:solidFill>
              </a:defRPr>
            </a:pPr>
            <a:r>
              <a:t>•  (정답·오답 코사인 차 0.001~0.1)</a:t>
            </a:r>
          </a:p>
          <a:p>
            <a:pPr algn="l">
              <a:spcBef>
                <a:spcPts val="300"/>
              </a:spcBef>
              <a:defRPr sz="1300">
                <a:solidFill>
                  <a:srgbClr val="1F2A44"/>
                </a:solidFill>
              </a:defRPr>
            </a:pPr>
            <a:r>
              <a:t>•  결론: 폐기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63640" y="3749039"/>
            <a:ext cx="5440680" cy="1965960"/>
          </a:xfrm>
          <a:prstGeom prst="roundRect">
            <a:avLst/>
          </a:prstGeom>
          <a:solidFill>
            <a:srgbClr val="E1F2E1"/>
          </a:solidFill>
          <a:ln w="25400">
            <a:solidFill>
              <a:srgbClr val="2E7D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73152" bIns="73152"/>
          <a:lstStyle/>
          <a:p>
            <a:pPr algn="l">
              <a:defRPr sz="1500" b="1">
                <a:solidFill>
                  <a:srgbClr val="2E7D32"/>
                </a:solidFill>
              </a:defRPr>
            </a:pPr>
            <a:r>
              <a:t>0.65 설정 근거 — 실측값</a:t>
            </a:r>
          </a:p>
          <a:p>
            <a:pPr algn="l">
              <a:spcBef>
                <a:spcPts val="300"/>
              </a:spcBef>
              <a:defRPr sz="1300">
                <a:solidFill>
                  <a:srgbClr val="1F2A44"/>
                </a:solidFill>
              </a:defRPr>
            </a:pPr>
            <a:r>
              <a:t>•  개체 언급 O: 0.800~1.000</a:t>
            </a:r>
          </a:p>
          <a:p>
            <a:pPr algn="l">
              <a:spcBef>
                <a:spcPts val="300"/>
              </a:spcBef>
              <a:defRPr sz="1300">
                <a:solidFill>
                  <a:srgbClr val="1F2A44"/>
                </a:solidFill>
              </a:defRPr>
            </a:pPr>
            <a:r>
              <a:t>•  개체 언급 X: 0.333~0.400</a:t>
            </a:r>
          </a:p>
          <a:p>
            <a:pPr algn="l">
              <a:spcBef>
                <a:spcPts val="300"/>
              </a:spcBef>
              <a:defRPr sz="1300">
                <a:solidFill>
                  <a:srgbClr val="1F2A44"/>
                </a:solidFill>
              </a:defRPr>
            </a:pPr>
            <a:r>
              <a:t>•  0.6 = 동률 구간(오답 기관 혼입)</a:t>
            </a:r>
          </a:p>
          <a:p>
            <a:pPr algn="l">
              <a:spcBef>
                <a:spcPts val="300"/>
              </a:spcBef>
              <a:defRPr sz="1300">
                <a:solidFill>
                  <a:srgbClr val="1F2A44"/>
                </a:solidFill>
              </a:defRPr>
            </a:pPr>
            <a:r>
              <a:t>•  → 0.65로 회피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6528816"/>
            <a:ext cx="112471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i="1">
                <a:solidFill>
                  <a:srgbClr val="555555"/>
                </a:solidFill>
              </a:defRPr>
            </a:pPr>
            <a:r>
              <a:t>graph_rag/query.py:28 FUZZY_MATCH_THRESHOLD=0.65 · 완전일치 성공 시 퍼지 매칭 생략(중복 계산 방지)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01168"/>
            <a:ext cx="112471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F2A44"/>
                </a:solidFill>
              </a:defRPr>
            </a:pPr>
            <a:r>
              <a:t>4. 임베딩/리랭커 모델 메모리 탑재·재사용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685800"/>
            <a:ext cx="112471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50">
                <a:solidFill>
                  <a:srgbClr val="555555"/>
                </a:solidFill>
              </a:defRPr>
            </a:pPr>
            <a:r>
              <a:t>STM·MTM·LTM·그래프·문서 검색 — 모델 하나로 통일된 임베딩 공간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234440"/>
            <a:ext cx="5486400" cy="2743200"/>
          </a:xfrm>
          <a:prstGeom prst="roundRect">
            <a:avLst/>
          </a:prstGeom>
          <a:solidFill>
            <a:srgbClr val="DDE9F7"/>
          </a:solidFill>
          <a:ln w="25400">
            <a:solidFill>
              <a:srgbClr val="2E5EA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73152" bIns="73152"/>
          <a:lstStyle/>
          <a:p>
            <a:pPr algn="l">
              <a:defRPr sz="1600" b="1">
                <a:solidFill>
                  <a:srgbClr val="2E5EAA"/>
                </a:solidFill>
              </a:defRPr>
            </a:pPr>
            <a:r>
              <a:t>호출부 5곳 — 동일 factory 경유</a:t>
            </a:r>
          </a:p>
          <a:p>
            <a:pPr algn="l">
              <a:spcBef>
                <a:spcPts val="300"/>
              </a:spcBef>
              <a:defRPr sz="1300">
                <a:solidFill>
                  <a:srgbClr val="1F2A44"/>
                </a:solidFill>
              </a:defRPr>
            </a:pPr>
            <a:r>
              <a:t>•  FactMemory — STM/MTM/LTM 검색·승급</a:t>
            </a:r>
          </a:p>
          <a:p>
            <a:pPr algn="l">
              <a:spcBef>
                <a:spcPts val="300"/>
              </a:spcBef>
              <a:defRPr sz="1300">
                <a:solidFill>
                  <a:srgbClr val="1F2A44"/>
                </a:solidFill>
              </a:defRPr>
            </a:pPr>
            <a:r>
              <a:t>•  DocRetriever — 문서 청크 검색</a:t>
            </a:r>
          </a:p>
          <a:p>
            <a:pPr algn="l">
              <a:spcBef>
                <a:spcPts val="300"/>
              </a:spcBef>
              <a:defRPr sz="1300">
                <a:solidFill>
                  <a:srgbClr val="1F2A44"/>
                </a:solidFill>
              </a:defRPr>
            </a:pPr>
            <a:r>
              <a:t>•  GraphRetriever.query — 엔티티 퍼지매칭</a:t>
            </a:r>
          </a:p>
          <a:p>
            <a:pPr algn="l">
              <a:spcBef>
                <a:spcPts val="300"/>
              </a:spcBef>
              <a:defRPr sz="1300">
                <a:solidFill>
                  <a:srgbClr val="1F2A44"/>
                </a:solidFill>
              </a:defRPr>
            </a:pPr>
            <a:r>
              <a:t>•  GraphRetriever.build — 그래프 구축</a:t>
            </a:r>
          </a:p>
          <a:p>
            <a:pPr algn="l">
              <a:spcBef>
                <a:spcPts val="300"/>
              </a:spcBef>
              <a:defRPr sz="1300">
                <a:solidFill>
                  <a:srgbClr val="1F2A44"/>
                </a:solidFill>
              </a:defRPr>
            </a:pPr>
            <a:r>
              <a:t>•  AgentRuntime — 답변 기여도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6035040" y="2606040"/>
            <a:ext cx="457200" cy="0"/>
          </a:xfrm>
          <a:prstGeom prst="line">
            <a:avLst/>
          </a:prstGeom>
          <a:ln w="38100" cap="rnd">
            <a:solidFill>
              <a:srgbClr val="555555"/>
            </a:solidFill>
            <a:round/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ounded Rectangle 5"/>
          <p:cNvSpPr/>
          <p:nvPr/>
        </p:nvSpPr>
        <p:spPr>
          <a:xfrm>
            <a:off x="6537960" y="1737360"/>
            <a:ext cx="5212080" cy="1737360"/>
          </a:xfrm>
          <a:prstGeom prst="roundRect">
            <a:avLst/>
          </a:prstGeom>
          <a:solidFill>
            <a:srgbClr val="E1F2E1"/>
          </a:solidFill>
          <a:ln w="25400">
            <a:solidFill>
              <a:srgbClr val="2E7D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73152" bIns="73152"/>
          <a:lstStyle/>
          <a:p>
            <a:pPr algn="l">
              <a:defRPr sz="1500" b="1">
                <a:solidFill>
                  <a:srgbClr val="2E7D32"/>
                </a:solidFill>
              </a:defRPr>
            </a:pPr>
            <a:r>
              <a:t>embedding_factory.build_embedder(cfg)</a:t>
            </a:r>
          </a:p>
          <a:p>
            <a:pPr algn="l">
              <a:spcBef>
                <a:spcPts val="300"/>
              </a:spcBef>
              <a:defRPr sz="1300">
                <a:solidFill>
                  <a:srgbClr val="1F2A44"/>
                </a:solidFill>
              </a:defRPr>
            </a:pPr>
            <a:r>
              <a:t>•  캐시 키 = backend·model_id·device·</a:t>
            </a:r>
          </a:p>
          <a:p>
            <a:pPr algn="l">
              <a:spcBef>
                <a:spcPts val="300"/>
              </a:spcBef>
              <a:defRPr sz="1300">
                <a:solidFill>
                  <a:srgbClr val="1F2A44"/>
                </a:solidFill>
              </a:defRPr>
            </a:pPr>
            <a:r>
              <a:t>•  batch_size·max_seq_length</a:t>
            </a:r>
          </a:p>
          <a:p>
            <a:pPr algn="l">
              <a:spcBef>
                <a:spcPts val="300"/>
              </a:spcBef>
              <a:defRPr sz="1300">
                <a:solidFill>
                  <a:srgbClr val="1F2A44"/>
                </a:solidFill>
              </a:defRPr>
            </a:pPr>
            <a:r>
              <a:t>•  동일 key → 인스턴스 재사용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9144000" y="3520440"/>
            <a:ext cx="0" cy="274320"/>
          </a:xfrm>
          <a:prstGeom prst="line">
            <a:avLst/>
          </a:prstGeom>
          <a:ln w="38100" cap="rnd">
            <a:solidFill>
              <a:srgbClr val="555555"/>
            </a:solidFill>
            <a:round/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ounded Rectangle 7"/>
          <p:cNvSpPr/>
          <p:nvPr/>
        </p:nvSpPr>
        <p:spPr>
          <a:xfrm>
            <a:off x="6537960" y="3840480"/>
            <a:ext cx="5212080" cy="1051560"/>
          </a:xfrm>
          <a:prstGeom prst="roundRect">
            <a:avLst/>
          </a:prstGeom>
          <a:solidFill>
            <a:srgbClr val="ECE1F6"/>
          </a:solidFill>
          <a:ln w="25400">
            <a:solidFill>
              <a:srgbClr val="6A3D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73152" bIns="73152"/>
          <a:lstStyle/>
          <a:p>
            <a:pPr algn="l">
              <a:defRPr sz="1500" b="1">
                <a:solidFill>
                  <a:srgbClr val="6A3D9A"/>
                </a:solidFill>
              </a:defRPr>
            </a:pPr>
            <a:r>
              <a:t>결과: 통일된 임베딩 공간</a:t>
            </a:r>
          </a:p>
          <a:p>
            <a:pPr algn="l">
              <a:spcBef>
                <a:spcPts val="300"/>
              </a:spcBef>
              <a:defRPr sz="1300">
                <a:solidFill>
                  <a:srgbClr val="1F2A44"/>
                </a:solidFill>
              </a:defRPr>
            </a:pPr>
            <a:r>
              <a:t>•  5개 저장소 = 동일 벡터공간 → 비교 일관성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4206240"/>
            <a:ext cx="5486400" cy="2148840"/>
          </a:xfrm>
          <a:prstGeom prst="roundRect">
            <a:avLst/>
          </a:prstGeom>
          <a:solidFill>
            <a:srgbClr val="FADEDE"/>
          </a:solidFill>
          <a:ln w="25400">
            <a:solidFill>
              <a:srgbClr val="A62C2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73152" bIns="73152"/>
          <a:lstStyle/>
          <a:p>
            <a:pPr algn="l">
              <a:defRPr sz="1550" b="1">
                <a:solidFill>
                  <a:srgbClr val="A62C2C"/>
                </a:solidFill>
              </a:defRPr>
            </a:pPr>
            <a:r>
              <a:t>실측 낭비 — 캐시 미적용 시</a:t>
            </a:r>
          </a:p>
          <a:p>
            <a:pPr algn="l">
              <a:spcBef>
                <a:spcPts val="300"/>
              </a:spcBef>
              <a:defRPr sz="1350">
                <a:solidFill>
                  <a:srgbClr val="1F2A44"/>
                </a:solidFill>
              </a:defRPr>
            </a:pPr>
            <a:r>
              <a:t>•  VRAM 8.47GB</a:t>
            </a:r>
          </a:p>
          <a:p>
            <a:pPr algn="l">
              <a:spcBef>
                <a:spcPts val="300"/>
              </a:spcBef>
              <a:defRPr sz="1350">
                <a:solidFill>
                  <a:srgbClr val="1F2A44"/>
                </a:solidFill>
              </a:defRPr>
            </a:pPr>
            <a:r>
              <a:t>•  중복분 4.24GB</a:t>
            </a:r>
          </a:p>
          <a:p>
            <a:pPr algn="l">
              <a:spcBef>
                <a:spcPts val="300"/>
              </a:spcBef>
              <a:defRPr sz="1350">
                <a:solidFill>
                  <a:srgbClr val="1F2A44"/>
                </a:solidFill>
              </a:defRPr>
            </a:pPr>
            <a:r>
              <a:t>•  로딩 중복 7.2초</a:t>
            </a:r>
          </a:p>
          <a:p>
            <a:pPr algn="l">
              <a:spcBef>
                <a:spcPts val="300"/>
              </a:spcBef>
              <a:defRPr sz="1350">
                <a:solidFill>
                  <a:srgbClr val="1F2A44"/>
                </a:solidFill>
              </a:defRPr>
            </a:pPr>
            <a:r>
              <a:t>•  (arctic-ko 3벌 중복 로드)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6528816"/>
            <a:ext cx="112471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i="1">
                <a:solidFill>
                  <a:srgbClr val="555555"/>
                </a:solidFill>
              </a:defRPr>
            </a:pPr>
            <a:r>
              <a:t>인스턴스 = 무상태(모델 가중치+캐시 핸들) → 스레드 간 공유 가능 · doc_rag/embedding_factory.py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01168"/>
            <a:ext cx="112471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F2A44"/>
                </a:solidFill>
              </a:defRPr>
            </a:pPr>
            <a:r>
              <a:t>5. STM/MTM/LTM 분기 구조 — 타 아키텍처 비교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685800"/>
            <a:ext cx="112471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50">
                <a:solidFill>
                  <a:srgbClr val="555555"/>
                </a:solidFill>
              </a:defRPr>
            </a:pPr>
            <a:r>
              <a:t>현재: 매 턴 세 계층 전부 조회(예산 3/3/3, LLM 판단 아님)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234440"/>
            <a:ext cx="3611880" cy="1600200"/>
          </a:xfrm>
          <a:prstGeom prst="roundRect">
            <a:avLst/>
          </a:prstGeom>
          <a:solidFill>
            <a:srgbClr val="FADEDE"/>
          </a:solidFill>
          <a:ln w="25400">
            <a:solidFill>
              <a:srgbClr val="A62C2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73152" bIns="73152"/>
          <a:lstStyle/>
          <a:p>
            <a:pPr algn="l">
              <a:defRPr sz="1500" b="1">
                <a:solidFill>
                  <a:srgbClr val="A62C2C"/>
                </a:solidFill>
              </a:defRPr>
            </a:pPr>
            <a:r>
              <a:t>Self-RAG</a:t>
            </a:r>
          </a:p>
          <a:p>
            <a:pPr algn="l">
              <a:spcBef>
                <a:spcPts val="300"/>
              </a:spcBef>
              <a:defRPr sz="1300">
                <a:solidFill>
                  <a:srgbClr val="1F2A44"/>
                </a:solidFill>
              </a:defRPr>
            </a:pPr>
            <a:r>
              <a:t>•  판단주체: 모델 자체(파인튜닝)</a:t>
            </a:r>
          </a:p>
          <a:p>
            <a:pPr algn="l">
              <a:spcBef>
                <a:spcPts val="300"/>
              </a:spcBef>
              <a:defRPr sz="1300">
                <a:solidFill>
                  <a:srgbClr val="1F2A44"/>
                </a:solidFill>
              </a:defRPr>
            </a:pPr>
            <a:r>
              <a:t>•  [Retrieve]/[IsSupported] 토큰 직접 생성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017520" y="1307592"/>
            <a:ext cx="914400" cy="365760"/>
          </a:xfrm>
          <a:prstGeom prst="roundRect">
            <a:avLst/>
          </a:prstGeom>
          <a:solidFill>
            <a:srgbClr val="A62C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불가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297680" y="1234440"/>
            <a:ext cx="3611880" cy="1600200"/>
          </a:xfrm>
          <a:prstGeom prst="roundRect">
            <a:avLst/>
          </a:prstGeom>
          <a:solidFill>
            <a:srgbClr val="FADEDE"/>
          </a:solidFill>
          <a:ln w="25400">
            <a:solidFill>
              <a:srgbClr val="A62C2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73152" bIns="73152"/>
          <a:lstStyle/>
          <a:p>
            <a:pPr algn="l">
              <a:defRPr sz="1500" b="1">
                <a:solidFill>
                  <a:srgbClr val="A62C2C"/>
                </a:solidFill>
              </a:defRPr>
            </a:pPr>
            <a:r>
              <a:t>FLARE</a:t>
            </a:r>
          </a:p>
          <a:p>
            <a:pPr algn="l">
              <a:spcBef>
                <a:spcPts val="300"/>
              </a:spcBef>
              <a:defRPr sz="1300">
                <a:solidFill>
                  <a:srgbClr val="1F2A44"/>
                </a:solidFill>
              </a:defRPr>
            </a:pPr>
            <a:r>
              <a:t>•  판단주체: 생성 중 신뢰도</a:t>
            </a:r>
          </a:p>
          <a:p>
            <a:pPr algn="l">
              <a:spcBef>
                <a:spcPts val="300"/>
              </a:spcBef>
              <a:defRPr sz="1300">
                <a:solidFill>
                  <a:srgbClr val="1F2A44"/>
                </a:solidFill>
              </a:defRPr>
            </a:pPr>
            <a:r>
              <a:t>•  토큰 확률 임계치 이하 → 검색 트리거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0" y="1307592"/>
            <a:ext cx="914400" cy="365760"/>
          </a:xfrm>
          <a:prstGeom prst="roundRect">
            <a:avLst/>
          </a:prstGeom>
          <a:solidFill>
            <a:srgbClr val="A62C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불가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138160" y="1234440"/>
            <a:ext cx="3611880" cy="1600200"/>
          </a:xfrm>
          <a:prstGeom prst="roundRect">
            <a:avLst/>
          </a:prstGeom>
          <a:solidFill>
            <a:srgbClr val="FBE7CE"/>
          </a:solidFill>
          <a:ln w="25400">
            <a:solidFill>
              <a:srgbClr val="B45F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73152" bIns="73152"/>
          <a:lstStyle/>
          <a:p>
            <a:pPr algn="l">
              <a:defRPr sz="1500" b="1">
                <a:solidFill>
                  <a:srgbClr val="B45F06"/>
                </a:solidFill>
              </a:defRPr>
            </a:pPr>
            <a:r>
              <a:t>Adaptive-RAG</a:t>
            </a:r>
          </a:p>
          <a:p>
            <a:pPr algn="l">
              <a:spcBef>
                <a:spcPts val="300"/>
              </a:spcBef>
              <a:defRPr sz="1300">
                <a:solidFill>
                  <a:srgbClr val="1F2A44"/>
                </a:solidFill>
              </a:defRPr>
            </a:pPr>
            <a:r>
              <a:t>•  판단주체: 별도 학습 분류기</a:t>
            </a:r>
          </a:p>
          <a:p>
            <a:pPr algn="l">
              <a:spcBef>
                <a:spcPts val="300"/>
              </a:spcBef>
              <a:defRPr sz="1300">
                <a:solidFill>
                  <a:srgbClr val="1F2A44"/>
                </a:solidFill>
              </a:defRPr>
            </a:pPr>
            <a:r>
              <a:t>•  질의 복잡도 → 검색없음/1단계/다단계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0698480" y="1307592"/>
            <a:ext cx="914400" cy="365760"/>
          </a:xfrm>
          <a:prstGeom prst="roundRect">
            <a:avLst/>
          </a:prstGeom>
          <a:solidFill>
            <a:srgbClr val="B45F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가능*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3063240"/>
            <a:ext cx="3611880" cy="1600200"/>
          </a:xfrm>
          <a:prstGeom prst="roundRect">
            <a:avLst/>
          </a:prstGeom>
          <a:solidFill>
            <a:srgbClr val="FADEDE"/>
          </a:solidFill>
          <a:ln w="25400">
            <a:solidFill>
              <a:srgbClr val="A62C2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73152" bIns="73152"/>
          <a:lstStyle/>
          <a:p>
            <a:pPr algn="l">
              <a:defRPr sz="1500" b="1">
                <a:solidFill>
                  <a:srgbClr val="A62C2C"/>
                </a:solidFill>
              </a:defRPr>
            </a:pPr>
            <a:r>
              <a:t>Probing-RAG</a:t>
            </a:r>
          </a:p>
          <a:p>
            <a:pPr algn="l">
              <a:spcBef>
                <a:spcPts val="300"/>
              </a:spcBef>
              <a:defRPr sz="1300">
                <a:solidFill>
                  <a:srgbClr val="1F2A44"/>
                </a:solidFill>
              </a:defRPr>
            </a:pPr>
            <a:r>
              <a:t>•  판단주체: 은닉 상태 프로브</a:t>
            </a:r>
          </a:p>
          <a:p>
            <a:pPr algn="l">
              <a:spcBef>
                <a:spcPts val="300"/>
              </a:spcBef>
              <a:defRPr sz="1300">
                <a:solidFill>
                  <a:srgbClr val="1F2A44"/>
                </a:solidFill>
              </a:defRPr>
            </a:pPr>
            <a:r>
              <a:t>•  은닉층 활성값 → 검색필요 예측 (57.5%↓)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017520" y="3136392"/>
            <a:ext cx="914400" cy="365760"/>
          </a:xfrm>
          <a:prstGeom prst="roundRect">
            <a:avLst/>
          </a:prstGeom>
          <a:solidFill>
            <a:srgbClr val="A62C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불가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297680" y="3063240"/>
            <a:ext cx="3611880" cy="1600200"/>
          </a:xfrm>
          <a:prstGeom prst="roundRect">
            <a:avLst/>
          </a:prstGeom>
          <a:solidFill>
            <a:srgbClr val="FBE7CE"/>
          </a:solidFill>
          <a:ln w="25400">
            <a:solidFill>
              <a:srgbClr val="B45F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73152" bIns="73152"/>
          <a:lstStyle/>
          <a:p>
            <a:pPr algn="l">
              <a:defRPr sz="1500" b="1">
                <a:solidFill>
                  <a:srgbClr val="B45F06"/>
                </a:solidFill>
              </a:defRPr>
            </a:pPr>
            <a:r>
              <a:t>Letta/MemGPT</a:t>
            </a:r>
          </a:p>
          <a:p>
            <a:pPr algn="l">
              <a:spcBef>
                <a:spcPts val="300"/>
              </a:spcBef>
              <a:defRPr sz="1300">
                <a:solidFill>
                  <a:srgbClr val="1F2A44"/>
                </a:solidFill>
              </a:defRPr>
            </a:pPr>
            <a:r>
              <a:t>•  판단주체: 토큰 압박 신호</a:t>
            </a:r>
          </a:p>
          <a:p>
            <a:pPr algn="l">
              <a:spcBef>
                <a:spcPts val="300"/>
              </a:spcBef>
              <a:defRPr sz="1300">
                <a:solidFill>
                  <a:srgbClr val="1F2A44"/>
                </a:solidFill>
              </a:defRPr>
            </a:pPr>
            <a:r>
              <a:t>•  컨텍스트 70%↑ → 경고 → LLM 함수호출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858000" y="3136392"/>
            <a:ext cx="914400" cy="365760"/>
          </a:xfrm>
          <a:prstGeom prst="roundRect">
            <a:avLst/>
          </a:prstGeom>
          <a:solidFill>
            <a:srgbClr val="B45F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부분*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138160" y="3063240"/>
            <a:ext cx="3611880" cy="1600200"/>
          </a:xfrm>
          <a:prstGeom prst="roundRect">
            <a:avLst/>
          </a:prstGeom>
          <a:solidFill>
            <a:srgbClr val="F2F2F2"/>
          </a:solidFill>
          <a:ln w="25400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73152" bIns="73152"/>
          <a:lstStyle/>
          <a:p>
            <a:pPr algn="l">
              <a:defRPr sz="1500" b="1">
                <a:solidFill>
                  <a:srgbClr val="555555"/>
                </a:solidFill>
              </a:defRPr>
            </a:pPr>
            <a:r>
              <a:t>Generative Agents</a:t>
            </a:r>
          </a:p>
          <a:p>
            <a:pPr algn="l">
              <a:spcBef>
                <a:spcPts val="300"/>
              </a:spcBef>
              <a:defRPr sz="1300">
                <a:solidFill>
                  <a:srgbClr val="1F2A44"/>
                </a:solidFill>
              </a:defRPr>
            </a:pPr>
            <a:r>
              <a:t>•  판단주체: 분기 없음</a:t>
            </a:r>
          </a:p>
          <a:p>
            <a:pPr algn="l">
              <a:spcBef>
                <a:spcPts val="300"/>
              </a:spcBef>
              <a:defRPr sz="1300">
                <a:solidFill>
                  <a:srgbClr val="1F2A44"/>
                </a:solidFill>
              </a:defRPr>
            </a:pPr>
            <a:r>
              <a:t>•  recency·importance·relevance 단일 랭킹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0698480" y="3136392"/>
            <a:ext cx="914400" cy="365760"/>
          </a:xfrm>
          <a:prstGeom prst="roundRect">
            <a:avLst/>
          </a:prstGeom>
          <a:solidFill>
            <a:srgbClr val="5555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참고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57200" y="4937759"/>
            <a:ext cx="11247120" cy="777240"/>
          </a:xfrm>
          <a:prstGeom prst="roundRect">
            <a:avLst/>
          </a:prstGeom>
          <a:solidFill>
            <a:srgbClr val="E1F2E1"/>
          </a:solidFill>
          <a:ln w="25400">
            <a:solidFill>
              <a:srgbClr val="2E7D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73152" bIns="73152"/>
          <a:lstStyle/>
          <a:p>
            <a:pPr algn="l">
              <a:defRPr sz="1500" b="1">
                <a:solidFill>
                  <a:srgbClr val="2E7D32"/>
                </a:solidFill>
              </a:defRPr>
            </a:pPr>
            <a:r>
              <a:t>결론 — 즉시 적용 가능한 방향</a:t>
            </a:r>
          </a:p>
          <a:p>
            <a:pPr algn="l">
              <a:spcBef>
                <a:spcPts val="300"/>
              </a:spcBef>
              <a:defRPr sz="1300">
                <a:solidFill>
                  <a:srgbClr val="1F2A44"/>
                </a:solidFill>
              </a:defRPr>
            </a:pPr>
            <a:r>
              <a:t>•  내부접근 필요 방식 배제 → 코사인 하한선(예 0.5) 적용, 미달 계층 제외 (비용 0)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5760720"/>
            <a:ext cx="11247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555555"/>
                </a:solidFill>
              </a:defRPr>
            </a:pPr>
            <a:r>
              <a:t>* 가능/부분 = 별도 학습·구현 비용 필요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01168"/>
            <a:ext cx="112471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F2A44"/>
                </a:solidFill>
              </a:defRPr>
            </a:pPr>
            <a:r>
              <a:t>부록 — 설정값 요약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685800"/>
            <a:ext cx="112471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50">
                <a:solidFill>
                  <a:srgbClr val="555555"/>
                </a:solidFill>
              </a:defRPr>
            </a:pPr>
            <a:r>
              <a:t>본문 슬라이드에서 정성적 라벨로 대체된 실제 문턱값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371600"/>
            <a:ext cx="3017520" cy="749808"/>
          </a:xfrm>
          <a:prstGeom prst="roundRect">
            <a:avLst/>
          </a:prstGeom>
          <a:solidFill>
            <a:srgbClr val="DDE9F7"/>
          </a:solidFill>
          <a:ln w="25400">
            <a:solidFill>
              <a:srgbClr val="2E5EA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73152" bIns="73152"/>
          <a:lstStyle/>
          <a:p>
            <a:pPr algn="l">
              <a:defRPr sz="1500" b="1">
                <a:solidFill>
                  <a:srgbClr val="2E5EAA"/>
                </a:solidFill>
              </a:defRPr>
            </a:pPr>
            <a:r>
              <a:t>코사인 유사도 문턱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611880" y="1371600"/>
            <a:ext cx="2011680" cy="749808"/>
          </a:xfrm>
          <a:prstGeom prst="roundRect">
            <a:avLst/>
          </a:prstGeom>
          <a:solidFill>
            <a:srgbClr val="2E5EAA"/>
          </a:solidFill>
          <a:ln w="254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73152" bIns="73152"/>
          <a:lstStyle/>
          <a:p>
            <a:pPr algn="ctr">
              <a:defRPr sz="1700" b="1">
                <a:solidFill>
                  <a:srgbClr val="FFFFFF"/>
                </a:solidFill>
              </a:defRPr>
            </a:pPr>
            <a:r>
              <a:t>0.65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760720" y="1371600"/>
            <a:ext cx="5943600" cy="749808"/>
          </a:xfrm>
          <a:prstGeom prst="roundRect">
            <a:avLst/>
          </a:prstGeom>
          <a:solidFill>
            <a:srgbClr val="F2F2F2"/>
          </a:solidFill>
          <a:ln w="25400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73152" bIns="73152"/>
          <a:lstStyle/>
          <a:p>
            <a:pPr algn="l">
              <a:defRPr sz="1500" b="1">
                <a:solidFill>
                  <a:srgbClr val="555555"/>
                </a:solidFill>
              </a:defRPr>
            </a:pPr>
            <a:r>
              <a:t>주제 유사 판정 (그래프 퍼지매칭 · LTM 대조 공용)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240280"/>
            <a:ext cx="3017520" cy="749808"/>
          </a:xfrm>
          <a:prstGeom prst="roundRect">
            <a:avLst/>
          </a:prstGeom>
          <a:solidFill>
            <a:srgbClr val="FADEDE"/>
          </a:solidFill>
          <a:ln w="25400">
            <a:solidFill>
              <a:srgbClr val="A62C2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73152" bIns="73152"/>
          <a:lstStyle/>
          <a:p>
            <a:pPr algn="l">
              <a:defRPr sz="1500" b="1">
                <a:solidFill>
                  <a:srgbClr val="A62C2C"/>
                </a:solidFill>
              </a:defRPr>
            </a:pPr>
            <a:r>
              <a:t>상호함의 상한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611880" y="2240280"/>
            <a:ext cx="2011680" cy="749808"/>
          </a:xfrm>
          <a:prstGeom prst="roundRect">
            <a:avLst/>
          </a:prstGeom>
          <a:solidFill>
            <a:srgbClr val="A62C2C"/>
          </a:solidFill>
          <a:ln w="254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73152" bIns="73152"/>
          <a:lstStyle/>
          <a:p>
            <a:pPr algn="ctr">
              <a:defRPr sz="1700" b="1">
                <a:solidFill>
                  <a:srgbClr val="FFFFFF"/>
                </a:solidFill>
              </a:defRPr>
            </a:pPr>
            <a:r>
              <a:t>≥ 2.0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760720" y="2240280"/>
            <a:ext cx="5943600" cy="749808"/>
          </a:xfrm>
          <a:prstGeom prst="roundRect">
            <a:avLst/>
          </a:prstGeom>
          <a:solidFill>
            <a:srgbClr val="F2F2F2"/>
          </a:solidFill>
          <a:ln w="25400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73152" bIns="73152"/>
          <a:lstStyle/>
          <a:p>
            <a:pPr algn="l">
              <a:defRPr sz="1500" b="1">
                <a:solidFill>
                  <a:srgbClr val="555555"/>
                </a:solidFill>
              </a:defRPr>
            </a:pPr>
            <a:r>
              <a:t>"같은 사실(중복)" 판정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3108960"/>
            <a:ext cx="3017520" cy="749808"/>
          </a:xfrm>
          <a:prstGeom prst="roundRect">
            <a:avLst/>
          </a:prstGeom>
          <a:solidFill>
            <a:srgbClr val="FBE7CE"/>
          </a:solidFill>
          <a:ln w="25400">
            <a:solidFill>
              <a:srgbClr val="B45F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73152" bIns="73152"/>
          <a:lstStyle/>
          <a:p>
            <a:pPr algn="l">
              <a:defRPr sz="1500" b="1">
                <a:solidFill>
                  <a:srgbClr val="B45F06"/>
                </a:solidFill>
              </a:defRPr>
            </a:pPr>
            <a:r>
              <a:t>상호함의 하한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611880" y="3108960"/>
            <a:ext cx="2011680" cy="749808"/>
          </a:xfrm>
          <a:prstGeom prst="roundRect">
            <a:avLst/>
          </a:prstGeom>
          <a:solidFill>
            <a:srgbClr val="B45F06"/>
          </a:solidFill>
          <a:ln w="254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73152" bIns="73152"/>
          <a:lstStyle/>
          <a:p>
            <a:pPr algn="ctr">
              <a:defRPr sz="1700" b="1">
                <a:solidFill>
                  <a:srgbClr val="FFFFFF"/>
                </a:solidFill>
              </a:defRPr>
            </a:pPr>
            <a:r>
              <a:t>&lt; -6.0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760720" y="3108960"/>
            <a:ext cx="5943600" cy="749808"/>
          </a:xfrm>
          <a:prstGeom prst="roundRect">
            <a:avLst/>
          </a:prstGeom>
          <a:solidFill>
            <a:srgbClr val="F2F2F2"/>
          </a:solidFill>
          <a:ln w="25400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73152" bIns="73152"/>
          <a:lstStyle/>
          <a:p>
            <a:pPr algn="l">
              <a:defRPr sz="1500" b="1">
                <a:solidFill>
                  <a:srgbClr val="555555"/>
                </a:solidFill>
              </a:defRPr>
            </a:pPr>
            <a:r>
              <a:t>"표면만 겹친 무관" 판정 (UPDATE_FLOOR)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7200" y="3977640"/>
            <a:ext cx="3017520" cy="749808"/>
          </a:xfrm>
          <a:prstGeom prst="roundRect">
            <a:avLst/>
          </a:prstGeom>
          <a:solidFill>
            <a:srgbClr val="E1F2E1"/>
          </a:solidFill>
          <a:ln w="25400">
            <a:solidFill>
              <a:srgbClr val="2E7D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73152" bIns="73152"/>
          <a:lstStyle/>
          <a:p>
            <a:pPr algn="l">
              <a:defRPr sz="1500" b="1">
                <a:solidFill>
                  <a:srgbClr val="2E7D32"/>
                </a:solidFill>
              </a:defRPr>
            </a:pPr>
            <a:r>
              <a:t>상호함의 갱신 구간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611880" y="3977640"/>
            <a:ext cx="2011680" cy="749808"/>
          </a:xfrm>
          <a:prstGeom prst="roundRect">
            <a:avLst/>
          </a:prstGeom>
          <a:solidFill>
            <a:srgbClr val="2E7D32"/>
          </a:solidFill>
          <a:ln w="254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73152" bIns="73152"/>
          <a:lstStyle/>
          <a:p>
            <a:pPr algn="ctr">
              <a:defRPr sz="1700" b="1">
                <a:solidFill>
                  <a:srgbClr val="FFFFFF"/>
                </a:solidFill>
              </a:defRPr>
            </a:pPr>
            <a:r>
              <a:t>[-6.0, 2.0)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760720" y="3977640"/>
            <a:ext cx="5943600" cy="749808"/>
          </a:xfrm>
          <a:prstGeom prst="roundRect">
            <a:avLst/>
          </a:prstGeom>
          <a:solidFill>
            <a:srgbClr val="F2F2F2"/>
          </a:solidFill>
          <a:ln w="25400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73152" bIns="73152"/>
          <a:lstStyle/>
          <a:p>
            <a:pPr algn="l">
              <a:defRPr sz="1500" b="1">
                <a:solidFill>
                  <a:srgbClr val="555555"/>
                </a:solidFill>
              </a:defRPr>
            </a:pPr>
            <a:r>
              <a:t>"같은 사안·다른 정보" 판정 → 기존 LTM 갱신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57200" y="4846320"/>
            <a:ext cx="3017520" cy="749808"/>
          </a:xfrm>
          <a:prstGeom prst="roundRect">
            <a:avLst/>
          </a:prstGeom>
          <a:solidFill>
            <a:srgbClr val="ECE1F6"/>
          </a:solidFill>
          <a:ln w="25400">
            <a:solidFill>
              <a:srgbClr val="6A3D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73152" bIns="73152"/>
          <a:lstStyle/>
          <a:p>
            <a:pPr algn="l">
              <a:defRPr sz="1500" b="1">
                <a:solidFill>
                  <a:srgbClr val="6A3D9A"/>
                </a:solidFill>
              </a:defRPr>
            </a:pPr>
            <a:r>
              <a:t>문서 파일 크기 상한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611880" y="4846320"/>
            <a:ext cx="2011680" cy="749808"/>
          </a:xfrm>
          <a:prstGeom prst="roundRect">
            <a:avLst/>
          </a:prstGeom>
          <a:solidFill>
            <a:srgbClr val="6A3D9A"/>
          </a:solidFill>
          <a:ln w="254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73152" bIns="73152"/>
          <a:lstStyle/>
          <a:p>
            <a:pPr algn="ctr">
              <a:defRPr sz="1700" b="1">
                <a:solidFill>
                  <a:srgbClr val="FFFFFF"/>
                </a:solidFill>
              </a:defRPr>
            </a:pPr>
            <a:r>
              <a:t>120 MB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760720" y="4846320"/>
            <a:ext cx="5943600" cy="749808"/>
          </a:xfrm>
          <a:prstGeom prst="roundRect">
            <a:avLst/>
          </a:prstGeom>
          <a:solidFill>
            <a:srgbClr val="F2F2F2"/>
          </a:solidFill>
          <a:ln w="25400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73152" bIns="73152"/>
          <a:lstStyle/>
          <a:p>
            <a:pPr algn="l">
              <a:defRPr sz="1500" b="1">
                <a:solidFill>
                  <a:srgbClr val="555555"/>
                </a:solidFill>
              </a:defRPr>
            </a:pPr>
            <a:r>
              <a:t>초과 시 인제스천 스킵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57200" y="5715000"/>
            <a:ext cx="3017520" cy="749808"/>
          </a:xfrm>
          <a:prstGeom prst="roundRect">
            <a:avLst/>
          </a:prstGeom>
          <a:solidFill>
            <a:srgbClr val="F2F2F2"/>
          </a:solidFill>
          <a:ln w="25400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73152" bIns="73152"/>
          <a:lstStyle/>
          <a:p>
            <a:pPr algn="l">
              <a:defRPr sz="1500" b="1">
                <a:solidFill>
                  <a:srgbClr val="555555"/>
                </a:solidFill>
              </a:defRPr>
            </a:pPr>
            <a:r>
              <a:t>계층별 조회 예산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3611880" y="5715000"/>
            <a:ext cx="2011680" cy="749808"/>
          </a:xfrm>
          <a:prstGeom prst="roundRect">
            <a:avLst/>
          </a:prstGeom>
          <a:solidFill>
            <a:srgbClr val="555555"/>
          </a:solidFill>
          <a:ln w="254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73152" bIns="73152"/>
          <a:lstStyle/>
          <a:p>
            <a:pPr algn="ctr">
              <a:defRPr sz="1700" b="1">
                <a:solidFill>
                  <a:srgbClr val="FFFFFF"/>
                </a:solidFill>
              </a:defRPr>
            </a:pPr>
            <a:r>
              <a:t>3 / 3 / 3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760720" y="5715000"/>
            <a:ext cx="5943600" cy="749808"/>
          </a:xfrm>
          <a:prstGeom prst="roundRect">
            <a:avLst/>
          </a:prstGeom>
          <a:solidFill>
            <a:srgbClr val="F2F2F2"/>
          </a:solidFill>
          <a:ln w="25400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73152" bIns="73152"/>
          <a:lstStyle/>
          <a:p>
            <a:pPr algn="l">
              <a:defRPr sz="1500" b="1">
                <a:solidFill>
                  <a:srgbClr val="555555"/>
                </a:solidFill>
              </a:defRPr>
            </a:pPr>
            <a:r>
              <a:t>STM · MTM · LTM 균등 조회 (config.memory_tier_budget)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